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Default Extension="fntdata" ContentType="application/x-fontdata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rtl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embeddedFontLst>
    <p:embeddedFont>
      <p:font typeface="Cairo"/>
      <p:regular r:id="rIdF1"/>
      <p:bold r:id="rIdF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a85a4ced-1f61-fcee-6c1e-49eae97d94b2}">
          <p14:sldIdLst>
            <p14:sldId id="256"/>
          </p14:sldIdLst>
        </p14:section>
        <p14:section name="الإطار الأكاديمي" id="{88a86f19-47a5-1a51-c1ea-87d85978bafb}">
          <p14:sldIdLst>
            <p14:sldId id="257"/>
            <p14:sldId id="258"/>
            <p14:sldId id="259"/>
            <p14:sldId id="260"/>
          </p14:sldIdLst>
        </p14:section>
        <p14:section name="التطبيقات والأثر" id="{d51112b3-1605-5d4f-c1f9-af00d7350958}">
          <p14:sldIdLst>
            <p14:sldId id="261"/>
            <p14:sldId id="262"/>
            <p14:sldId id="263"/>
            <p14:sldId id="264"/>
            <p14:sldId id="265"/>
          </p14:sldIdLst>
        </p14:section>
        <p14:section name="التحديات والتوصيات" id="{1e8adb85-05f6-decc-4f3b-b13546bdc0f3}">
          <p14:sldIdLst>
            <p14:sldId id="266"/>
            <p14:sldId id="267"/>
            <p14:sldId id="268"/>
            <p14:sldId id="269"/>
          </p14:sldIdLst>
        </p14:section>
        <p14:section name="الخلاصة والمصادر" id="{98b36c10-7b0e-eaf1-ae7f-8088cadfcd8f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F1" Type="http://schemas.openxmlformats.org/officeDocument/2006/relationships/font" Target="fonts/font1.fntdata"/><Relationship Id="rIdF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الغلاف: العنوان وأسماء الطلاب والقائمين على التدريس كما وردت في التصميم الأصلي.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AM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مزارع مصري مبتسم يحمل هاتفًا ذكيًا في حقل أخض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3" name="bar"/>
          <p:cNvSpPr/>
          <p:nvPr/>
        </p:nvSpPr>
        <p:spPr>
          <a:xfrm>
            <a:off x="4851400" y="0"/>
            <a:ext cx="292100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itle"/>
          <p:cNvSpPr txBox="1"/>
          <p:nvPr/>
        </p:nvSpPr>
        <p:spPr>
          <a:xfrm>
            <a:off x="381000" y="431800"/>
            <a:ext cx="412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7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أثر الذكاء الاصطناعي على مستوى دخل الفرد والموارد البشرية</a:t>
            </a:r>
            <a:endParaRPr lang="ar-EG" sz="2700" dirty="0"/>
          </a:p>
        </p:txBody>
      </p:sp>
      <p:sp>
        <p:nvSpPr>
          <p:cNvPr id="5" name="sub"/>
          <p:cNvSpPr txBox="1"/>
          <p:nvPr/>
        </p:nvSpPr>
        <p:spPr>
          <a:xfrm>
            <a:off x="381000" y="2540000"/>
            <a:ext cx="4127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مبادرة أكاديمية</a:t>
            </a:r>
            <a:endParaRPr lang="ar-EG" sz="1400" dirty="0"/>
          </a:p>
        </p:txBody>
      </p:sp>
      <p:sp>
        <p:nvSpPr>
          <p:cNvPr id="6" name="students"/>
          <p:cNvSpPr txBox="1"/>
          <p:nvPr/>
        </p:nvSpPr>
        <p:spPr>
          <a:xfrm>
            <a:off x="381000" y="3048000"/>
            <a:ext cx="4127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accent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أسماء الطلاب: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عبدالرحمن فتحي</a:t>
            </a:r>
            <a:endParaRPr lang="ar-EG" sz="16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عمرو الهادي</a:t>
            </a:r>
            <a:endParaRPr lang="ar-EG" sz="16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عبدالله عمر</a:t>
            </a:r>
            <a:endParaRPr lang="ar-EG" sz="16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محمود عبدالرسول</a:t>
            </a:r>
            <a:endParaRPr lang="ar-EG" sz="16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امنية حمدي</a:t>
            </a:r>
            <a:endParaRPr lang="ar-EG" sz="1600" dirty="0"/>
          </a:p>
        </p:txBody>
      </p:sp>
      <p:sp>
        <p:nvSpPr>
          <p:cNvPr id="7" name="instructors"/>
          <p:cNvSpPr txBox="1"/>
          <p:nvPr/>
        </p:nvSpPr>
        <p:spPr>
          <a:xfrm>
            <a:off x="381000" y="5003800"/>
            <a:ext cx="41275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EG" altLang="en-US" sz="1200" b="1" dirty="0">
                <a:solidFill>
                  <a:schemeClr val="accent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القائم على تدريس الجزء النظري:</a:t>
            </a:r>
            <a:endParaRPr lang="ar-EG" sz="16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EG" altLang="en-US" sz="1400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 زينب محمود عبدالرحمن</a:t>
            </a:r>
            <a:endParaRPr lang="ar-EG" sz="16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EG" altLang="en-US" sz="1200" b="1" dirty="0">
                <a:solidFill>
                  <a:schemeClr val="accent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القائم على تدريس الجزء العملي:</a:t>
            </a:r>
            <a:endParaRPr lang="ar-EG" sz="16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EG" altLang="en-US" sz="1400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 آيات ماهر محمد</a:t>
            </a:r>
            <a:endParaRPr lang="ar-EG" sz="1600" dirty="0"/>
          </a:p>
        </p:txBody>
      </p:sp>
      <p:sp>
        <p:nvSpPr>
          <p:cNvPr id="8" name="tag"/>
          <p:cNvSpPr txBox="1"/>
          <p:nvPr/>
        </p:nvSpPr>
        <p:spPr>
          <a:xfrm>
            <a:off x="381000" y="6400800"/>
            <a:ext cx="4127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accent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تنمية الإنسان أولًا</a:t>
            </a:r>
            <a:endParaRPr lang="ar-EG" sz="15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نساء يعملن في حقل برسيم أخض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7225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921500" y="889000"/>
            <a:ext cx="4584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الإنسان محور التنمية</a:t>
            </a:r>
            <a:endParaRPr lang="ar-EG" sz="3000" dirty="0"/>
          </a:p>
        </p:txBody>
      </p:sp>
      <p:sp>
        <p:nvSpPr>
          <p:cNvPr id="4" name="body"/>
          <p:cNvSpPr txBox="1"/>
          <p:nvPr/>
        </p:nvSpPr>
        <p:spPr>
          <a:xfrm>
            <a:off x="6921500" y="1905000"/>
            <a:ext cx="45847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تنمية القدرات لا تكتمل بمجرد امتلاك التقنية. القيمة تظهر عندما تتحول المعرفة والمهارة إلى عمل منتج وخدمة أفضل وفرصة أوسع للاختيار.</a:t>
            </a:r>
            <a:endParaRPr lang="ar-EG" sz="1900" dirty="0"/>
          </a:p>
        </p:txBody>
      </p:sp>
      <p:sp>
        <p:nvSpPr>
          <p:cNvPr id="5" name="note"/>
          <p:cNvSpPr txBox="1"/>
          <p:nvPr/>
        </p:nvSpPr>
        <p:spPr>
          <a:xfrm>
            <a:off x="6921500" y="4318000"/>
            <a:ext cx="4584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الفكرة الأساسية في الكتاب: بناء قدرات الإنسان واستخدامها في الأنشطة الإنتاجية والخدمية بما يدعم استمرار التنمية.</a:t>
            </a:r>
            <a:endParaRPr lang="ar-EG" sz="1400" dirty="0"/>
          </a:p>
        </p:txBody>
      </p:sp>
      <p:sp>
        <p:nvSpPr>
          <p:cNvPr id="6" name="src"/>
          <p:cNvSpPr txBox="1"/>
          <p:nvPr/>
        </p:nvSpPr>
        <p:spPr>
          <a:xfrm>
            <a:off x="6921500" y="6223000"/>
            <a:ext cx="4584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1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المصدر العلمي: تنمية الموارد البشرية الريفية، الفصل الحادي عشر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215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مجموعة من الطلاب تتناقش وتكتب حول طاول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40894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685800" y="4267200"/>
            <a:ext cx="1082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السؤال المركزي</a:t>
            </a:r>
            <a:endParaRPr lang="ar-EG" sz="1400" dirty="0"/>
          </a:p>
        </p:txBody>
      </p:sp>
      <p:sp>
        <p:nvSpPr>
          <p:cNvPr id="4" name="title"/>
          <p:cNvSpPr txBox="1"/>
          <p:nvPr/>
        </p:nvSpPr>
        <p:spPr>
          <a:xfrm>
            <a:off x="685800" y="4648200"/>
            <a:ext cx="10820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متى يساعد الذكاء الاصطناعي على تحسين الدخل وتنمية الموارد البشرية في الريف؟</a:t>
            </a:r>
            <a:endParaRPr lang="ar-EG" sz="3000" dirty="0"/>
          </a:p>
        </p:txBody>
      </p:sp>
      <p:sp>
        <p:nvSpPr>
          <p:cNvPr id="5" name="sub"/>
          <p:cNvSpPr txBox="1"/>
          <p:nvPr/>
        </p:nvSpPr>
        <p:spPr>
          <a:xfrm>
            <a:off x="685800" y="60706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الإجابة تعتمد على المهارات، وجودة البيانات، وإمكانية الوصول، وملاءمة الأداة للواقع المحلي.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مزارع يعمل بين صفوف القمح الخضرا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4720" y="0"/>
            <a:ext cx="490728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62000" y="762000"/>
            <a:ext cx="5892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تنمية الموارد البشرية</a:t>
            </a:r>
            <a:endParaRPr lang="ar-EG" sz="3000" dirty="0"/>
          </a:p>
        </p:txBody>
      </p:sp>
      <p:sp>
        <p:nvSpPr>
          <p:cNvPr id="4" name="def"/>
          <p:cNvSpPr txBox="1"/>
          <p:nvPr/>
        </p:nvSpPr>
        <p:spPr>
          <a:xfrm>
            <a:off x="762000" y="1651000"/>
            <a:ext cx="5892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هي التدابير والوسائل التي تنمّي كفاءة الإنسان من خلال التدريب والتعليم ونقل الخبرات، وتطوير القدرات والسلوك والعلاقات والاتصالات.</a:t>
            </a:r>
            <a:endParaRPr lang="ar-EG" sz="1900" dirty="0"/>
          </a:p>
        </p:txBody>
      </p:sp>
      <p:sp>
        <p:nvSpPr>
          <p:cNvPr id="5" name="label"/>
          <p:cNvSpPr txBox="1"/>
          <p:nvPr/>
        </p:nvSpPr>
        <p:spPr>
          <a:xfrm>
            <a:off x="762000" y="3937000"/>
            <a:ext cx="589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النتيجة المقصودة</a:t>
            </a:r>
            <a:endParaRPr lang="ar-EG" sz="1400" dirty="0"/>
          </a:p>
        </p:txBody>
      </p:sp>
      <p:sp>
        <p:nvSpPr>
          <p:cNvPr id="6" name="result"/>
          <p:cNvSpPr txBox="1"/>
          <p:nvPr/>
        </p:nvSpPr>
        <p:spPr>
          <a:xfrm>
            <a:off x="762000" y="4343400"/>
            <a:ext cx="5892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قدرة أعلى على أداء العمل، وتحليل المشكلات، وتحمل المسؤولية، والاستفادة من الموارد المتاحة بكفاءة.</a:t>
            </a:r>
            <a:endParaRPr lang="ar-EG" sz="1700" dirty="0"/>
          </a:p>
        </p:txBody>
      </p:sp>
      <p:sp>
        <p:nvSpPr>
          <p:cNvPr id="7" name="src"/>
          <p:cNvSpPr txBox="1"/>
          <p:nvPr/>
        </p:nvSpPr>
        <p:spPr>
          <a:xfrm>
            <a:off x="762000" y="6223000"/>
            <a:ext cx="589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1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المصدر العلمي: تنمية الموارد البشرية الريفية، الصفحات المطبوعة 91-92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20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مدربة تقدم جلسة تدريب لمزارعين جالسين في الحق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261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096000" y="838200"/>
            <a:ext cx="530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التدريب والتعلّم المستمر</a:t>
            </a:r>
            <a:endParaRPr lang="ar-EG" sz="3000" dirty="0"/>
          </a:p>
        </p:txBody>
      </p:sp>
      <p:sp>
        <p:nvSpPr>
          <p:cNvPr id="4" name="sub"/>
          <p:cNvSpPr txBox="1"/>
          <p:nvPr/>
        </p:nvSpPr>
        <p:spPr>
          <a:xfrm>
            <a:off x="6096000" y="1651000"/>
            <a:ext cx="530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يربط الكتاب التدريب بستة جوانب تتغير معًا:</a:t>
            </a:r>
            <a:endParaRPr lang="ar-EG" sz="1600" dirty="0"/>
          </a:p>
        </p:txBody>
      </p:sp>
      <p:sp>
        <p:nvSpPr>
          <p:cNvPr id="5" name="dot0"/>
          <p:cNvSpPr/>
          <p:nvPr/>
        </p:nvSpPr>
        <p:spPr>
          <a:xfrm>
            <a:off x="11049000" y="2603500"/>
            <a:ext cx="152400" cy="152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item0"/>
          <p:cNvSpPr txBox="1"/>
          <p:nvPr/>
        </p:nvSpPr>
        <p:spPr>
          <a:xfrm>
            <a:off x="8128000" y="24638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المعلومات</a:t>
            </a:r>
            <a:endParaRPr lang="ar-EG" sz="2200" dirty="0"/>
          </a:p>
        </p:txBody>
      </p:sp>
      <p:sp>
        <p:nvSpPr>
          <p:cNvPr id="7" name="dot1"/>
          <p:cNvSpPr/>
          <p:nvPr/>
        </p:nvSpPr>
        <p:spPr>
          <a:xfrm>
            <a:off x="11049000" y="3162300"/>
            <a:ext cx="152400" cy="152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item1"/>
          <p:cNvSpPr txBox="1"/>
          <p:nvPr/>
        </p:nvSpPr>
        <p:spPr>
          <a:xfrm>
            <a:off x="8128000" y="30226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القدرات</a:t>
            </a:r>
            <a:endParaRPr lang="ar-EG" sz="2200" dirty="0"/>
          </a:p>
        </p:txBody>
      </p:sp>
      <p:sp>
        <p:nvSpPr>
          <p:cNvPr id="9" name="dot2"/>
          <p:cNvSpPr/>
          <p:nvPr/>
        </p:nvSpPr>
        <p:spPr>
          <a:xfrm>
            <a:off x="11049000" y="3721100"/>
            <a:ext cx="152400" cy="152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item2"/>
          <p:cNvSpPr txBox="1"/>
          <p:nvPr/>
        </p:nvSpPr>
        <p:spPr>
          <a:xfrm>
            <a:off x="8128000" y="35814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المهارات</a:t>
            </a:r>
            <a:endParaRPr lang="ar-EG" sz="2200" dirty="0"/>
          </a:p>
        </p:txBody>
      </p:sp>
      <p:sp>
        <p:nvSpPr>
          <p:cNvPr id="11" name="dot3"/>
          <p:cNvSpPr/>
          <p:nvPr/>
        </p:nvSpPr>
        <p:spPr>
          <a:xfrm>
            <a:off x="11049000" y="4279900"/>
            <a:ext cx="152400" cy="152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item3"/>
          <p:cNvSpPr txBox="1"/>
          <p:nvPr/>
        </p:nvSpPr>
        <p:spPr>
          <a:xfrm>
            <a:off x="8128000" y="41402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الاتجاهات</a:t>
            </a:r>
            <a:endParaRPr lang="ar-EG" sz="2200" dirty="0"/>
          </a:p>
        </p:txBody>
      </p:sp>
      <p:sp>
        <p:nvSpPr>
          <p:cNvPr id="13" name="dot4"/>
          <p:cNvSpPr/>
          <p:nvPr/>
        </p:nvSpPr>
        <p:spPr>
          <a:xfrm>
            <a:off x="11049000" y="4838700"/>
            <a:ext cx="152400" cy="152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item4"/>
          <p:cNvSpPr txBox="1"/>
          <p:nvPr/>
        </p:nvSpPr>
        <p:spPr>
          <a:xfrm>
            <a:off x="8128000" y="46990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السلوك</a:t>
            </a:r>
            <a:endParaRPr lang="ar-EG" sz="2200" dirty="0"/>
          </a:p>
        </p:txBody>
      </p:sp>
      <p:sp>
        <p:nvSpPr>
          <p:cNvPr id="15" name="dot5"/>
          <p:cNvSpPr/>
          <p:nvPr/>
        </p:nvSpPr>
        <p:spPr>
          <a:xfrm>
            <a:off x="11049000" y="5397500"/>
            <a:ext cx="152400" cy="152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item5"/>
          <p:cNvSpPr txBox="1"/>
          <p:nvPr/>
        </p:nvSpPr>
        <p:spPr>
          <a:xfrm>
            <a:off x="8128000" y="52578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الأداء الوظيفي</a:t>
            </a:r>
            <a:endParaRPr lang="ar-EG" sz="2200" dirty="0"/>
          </a:p>
        </p:txBody>
      </p:sp>
      <p:sp>
        <p:nvSpPr>
          <p:cNvPr id="17" name="method"/>
          <p:cNvSpPr txBox="1"/>
          <p:nvPr/>
        </p:nvSpPr>
        <p:spPr>
          <a:xfrm>
            <a:off x="6096000" y="2540000"/>
            <a:ext cx="177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التدريب الفعّال يبدأ باحتياج واضح، ويستخدم أسلوبًا مناسبًا، ثم يقيس أثره على العمل والتكلفة والعائد.</a:t>
            </a:r>
            <a:endParaRPr lang="ar-EG" sz="1400" dirty="0"/>
          </a:p>
        </p:txBody>
      </p:sp>
      <p:sp>
        <p:nvSpPr>
          <p:cNvPr id="18" name="src"/>
          <p:cNvSpPr txBox="1"/>
          <p:nvPr/>
        </p:nvSpPr>
        <p:spPr>
          <a:xfrm>
            <a:off x="6096000" y="6223000"/>
            <a:ext cx="5308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1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المصدر العلمي: تنمية الموارد البشرية الريفية، الفصل الثاني عشر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0960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شباب يستخدمون الحواسيب داخل قاعة تدري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0"/>
            <a:ext cx="72390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35000" y="762000"/>
            <a:ext cx="368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6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الذكاء الاصطناعي في العمل والإنتاج</a:t>
            </a:r>
            <a:endParaRPr lang="ar-EG" sz="2600" dirty="0"/>
          </a:p>
        </p:txBody>
      </p:sp>
      <p:sp>
        <p:nvSpPr>
          <p:cNvPr id="4" name="def"/>
          <p:cNvSpPr txBox="1"/>
          <p:nvPr/>
        </p:nvSpPr>
        <p:spPr>
          <a:xfrm>
            <a:off x="635000" y="2413000"/>
            <a:ext cx="368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أدوات تتعامل مع البيانات لاكتشاف أنماط، وتقديم توقعات أو توصيات، ومساندة القرار.</a:t>
            </a:r>
            <a:endParaRPr lang="ar-EG" sz="1600" dirty="0"/>
          </a:p>
        </p:txBody>
      </p:sp>
      <p:sp>
        <p:nvSpPr>
          <p:cNvPr id="5" name="rural"/>
          <p:cNvSpPr txBox="1"/>
          <p:nvPr/>
        </p:nvSpPr>
        <p:spPr>
          <a:xfrm>
            <a:off x="635000" y="393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البيئة الريفية يمكن أن تظهر في الإرشاد الزراعي، وتشخيص مشكلات المحاصيل، وإدارة المياه، والوصول إلى الأسواق.</a:t>
            </a:r>
            <a:endParaRPr lang="ar-EG" sz="1500" dirty="0"/>
          </a:p>
        </p:txBody>
      </p:sp>
      <p:sp>
        <p:nvSpPr>
          <p:cNvPr id="6" name="key"/>
          <p:cNvSpPr txBox="1"/>
          <p:nvPr/>
        </p:nvSpPr>
        <p:spPr>
          <a:xfrm>
            <a:off x="635000" y="5588000"/>
            <a:ext cx="368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القرار النهائي يحتاج معرفة محلية وخبرة بشرية.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50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مزارع يفحص ثمار الطماطم في الحق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0480" y="0"/>
            <a:ext cx="581152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49300" y="787400"/>
            <a:ext cx="50419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6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قرارات زراعية بمساندة رقمية</a:t>
            </a:r>
            <a:endParaRPr lang="ar-EG" sz="2600" dirty="0"/>
          </a:p>
        </p:txBody>
      </p:sp>
      <p:sp>
        <p:nvSpPr>
          <p:cNvPr id="4" name="n0"/>
          <p:cNvSpPr/>
          <p:nvPr/>
        </p:nvSpPr>
        <p:spPr>
          <a:xfrm>
            <a:off x="5334000" y="19050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nt0"/>
          <p:cNvSpPr txBox="1"/>
          <p:nvPr/>
        </p:nvSpPr>
        <p:spPr>
          <a:xfrm>
            <a:off x="5334000" y="1955800"/>
            <a:ext cx="45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</a:t>
            </a:r>
            <a:endParaRPr lang="ar-EG" sz="1500" dirty="0"/>
          </a:p>
        </p:txBody>
      </p:sp>
      <p:sp>
        <p:nvSpPr>
          <p:cNvPr id="6" name="step0"/>
          <p:cNvSpPr txBox="1"/>
          <p:nvPr/>
        </p:nvSpPr>
        <p:spPr>
          <a:xfrm>
            <a:off x="749300" y="19431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تصوير المشكلة أو تسجيل الملاحظة</a:t>
            </a:r>
            <a:endParaRPr lang="ar-EG" sz="1700" dirty="0"/>
          </a:p>
        </p:txBody>
      </p:sp>
      <p:sp>
        <p:nvSpPr>
          <p:cNvPr id="7" name="n1"/>
          <p:cNvSpPr/>
          <p:nvPr/>
        </p:nvSpPr>
        <p:spPr>
          <a:xfrm>
            <a:off x="5334000" y="26924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nt1"/>
          <p:cNvSpPr txBox="1"/>
          <p:nvPr/>
        </p:nvSpPr>
        <p:spPr>
          <a:xfrm>
            <a:off x="5334000" y="2743200"/>
            <a:ext cx="45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</a:t>
            </a:r>
            <a:endParaRPr lang="ar-EG" sz="1500" dirty="0"/>
          </a:p>
        </p:txBody>
      </p:sp>
      <p:sp>
        <p:nvSpPr>
          <p:cNvPr id="9" name="step1"/>
          <p:cNvSpPr txBox="1"/>
          <p:nvPr/>
        </p:nvSpPr>
        <p:spPr>
          <a:xfrm>
            <a:off x="749300" y="27305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الصورة أو البيانات المتاحة</a:t>
            </a:r>
            <a:endParaRPr lang="ar-EG" sz="1700" dirty="0"/>
          </a:p>
        </p:txBody>
      </p:sp>
      <p:sp>
        <p:nvSpPr>
          <p:cNvPr id="10" name="n2"/>
          <p:cNvSpPr/>
          <p:nvPr/>
        </p:nvSpPr>
        <p:spPr>
          <a:xfrm>
            <a:off x="5334000" y="34798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nt2"/>
          <p:cNvSpPr txBox="1"/>
          <p:nvPr/>
        </p:nvSpPr>
        <p:spPr>
          <a:xfrm>
            <a:off x="5334000" y="3530600"/>
            <a:ext cx="45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</a:t>
            </a:r>
            <a:endParaRPr lang="ar-EG" sz="1500" dirty="0"/>
          </a:p>
        </p:txBody>
      </p:sp>
      <p:sp>
        <p:nvSpPr>
          <p:cNvPr id="12" name="step2"/>
          <p:cNvSpPr txBox="1"/>
          <p:nvPr/>
        </p:nvSpPr>
        <p:spPr>
          <a:xfrm>
            <a:off x="749300" y="35179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تقديم احتمال أو توصية أولية</a:t>
            </a:r>
            <a:endParaRPr lang="ar-EG" sz="1700" dirty="0"/>
          </a:p>
        </p:txBody>
      </p:sp>
      <p:sp>
        <p:nvSpPr>
          <p:cNvPr id="13" name="n3"/>
          <p:cNvSpPr/>
          <p:nvPr/>
        </p:nvSpPr>
        <p:spPr>
          <a:xfrm>
            <a:off x="5334000" y="4267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nt3"/>
          <p:cNvSpPr txBox="1"/>
          <p:nvPr/>
        </p:nvSpPr>
        <p:spPr>
          <a:xfrm>
            <a:off x="5334000" y="4318000"/>
            <a:ext cx="45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٤</a:t>
            </a:r>
            <a:endParaRPr lang="ar-EG" sz="1500" dirty="0"/>
          </a:p>
        </p:txBody>
      </p:sp>
      <p:sp>
        <p:nvSpPr>
          <p:cNvPr id="15" name="step3"/>
          <p:cNvSpPr txBox="1"/>
          <p:nvPr/>
        </p:nvSpPr>
        <p:spPr>
          <a:xfrm>
            <a:off x="749300" y="43053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مراجعة المرشد أو الخبير قبل التنفيذ</a:t>
            </a:r>
            <a:endParaRPr lang="ar-EG" sz="1700" dirty="0"/>
          </a:p>
        </p:txBody>
      </p:sp>
      <p:sp>
        <p:nvSpPr>
          <p:cNvPr id="16" name="caveat"/>
          <p:cNvSpPr txBox="1"/>
          <p:nvPr/>
        </p:nvSpPr>
        <p:spPr>
          <a:xfrm>
            <a:off x="749300" y="5334000"/>
            <a:ext cx="5041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هذه الأدوات تقلل زمن الوصول إلى المعلومة، لكنها قد تخطئ إذا كانت البيانات ضعيفة أو غير ملائمة للمحصول والبيئة.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493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مزارع يفتح محبس ري في حقل أرز أخض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37084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6858000" y="228600"/>
            <a:ext cx="4648200" cy="711200"/>
          </a:xfrm>
          <a:prstGeom prst="rect">
            <a:avLst/>
          </a:prstGeom>
          <a:solidFill>
            <a:schemeClr val="tx2">
              <a:alpha val="55000"/>
            </a:schemeClr>
          </a:solidFill>
          <a:ln/>
        </p:spPr>
      </p:sp>
      <p:sp>
        <p:nvSpPr>
          <p:cNvPr id="4" name="title"/>
          <p:cNvSpPr txBox="1"/>
          <p:nvPr/>
        </p:nvSpPr>
        <p:spPr>
          <a:xfrm>
            <a:off x="6985000" y="330200"/>
            <a:ext cx="4394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6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يمكن أن يتأثر الدخل؟</a:t>
            </a:r>
            <a:endParaRPr lang="ar-EG" sz="2600" dirty="0"/>
          </a:p>
        </p:txBody>
      </p:sp>
      <p:sp>
        <p:nvSpPr>
          <p:cNvPr id="5" name="link0"/>
          <p:cNvSpPr/>
          <p:nvPr/>
        </p:nvSpPr>
        <p:spPr>
          <a:xfrm>
            <a:off x="7874000" y="4572000"/>
            <a:ext cx="1803400" cy="1905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c0"/>
          <p:cNvSpPr/>
          <p:nvPr/>
        </p:nvSpPr>
        <p:spPr>
          <a:xfrm>
            <a:off x="9791700" y="4318000"/>
            <a:ext cx="533400" cy="5334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cn0"/>
          <p:cNvSpPr txBox="1"/>
          <p:nvPr/>
        </p:nvSpPr>
        <p:spPr>
          <a:xfrm>
            <a:off x="9791700" y="4394200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7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</a:t>
            </a:r>
            <a:endParaRPr lang="ar-EG" sz="1700" dirty="0"/>
          </a:p>
        </p:txBody>
      </p:sp>
      <p:sp>
        <p:nvSpPr>
          <p:cNvPr id="8" name="h0"/>
          <p:cNvSpPr txBox="1"/>
          <p:nvPr/>
        </p:nvSpPr>
        <p:spPr>
          <a:xfrm>
            <a:off x="8915400" y="5016500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معلومة أدق</a:t>
            </a:r>
            <a:endParaRPr lang="ar-EG" sz="1900" dirty="0"/>
          </a:p>
        </p:txBody>
      </p:sp>
      <p:sp>
        <p:nvSpPr>
          <p:cNvPr id="9" name="d0"/>
          <p:cNvSpPr txBox="1"/>
          <p:nvPr/>
        </p:nvSpPr>
        <p:spPr>
          <a:xfrm>
            <a:off x="8915400" y="54864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عن الطقس أو الري أو الآفة</a:t>
            </a:r>
            <a:endParaRPr lang="ar-EG" sz="1200" dirty="0"/>
          </a:p>
        </p:txBody>
      </p:sp>
      <p:sp>
        <p:nvSpPr>
          <p:cNvPr id="10" name="link1"/>
          <p:cNvSpPr/>
          <p:nvPr/>
        </p:nvSpPr>
        <p:spPr>
          <a:xfrm>
            <a:off x="5308600" y="4572000"/>
            <a:ext cx="1803400" cy="1905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c1"/>
          <p:cNvSpPr/>
          <p:nvPr/>
        </p:nvSpPr>
        <p:spPr>
          <a:xfrm>
            <a:off x="7226300" y="4318000"/>
            <a:ext cx="533400" cy="5334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cn1"/>
          <p:cNvSpPr txBox="1"/>
          <p:nvPr/>
        </p:nvSpPr>
        <p:spPr>
          <a:xfrm>
            <a:off x="7226300" y="4394200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7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</a:t>
            </a:r>
            <a:endParaRPr lang="ar-EG" sz="1700" dirty="0"/>
          </a:p>
        </p:txBody>
      </p:sp>
      <p:sp>
        <p:nvSpPr>
          <p:cNvPr id="13" name="h1"/>
          <p:cNvSpPr txBox="1"/>
          <p:nvPr/>
        </p:nvSpPr>
        <p:spPr>
          <a:xfrm>
            <a:off x="6350000" y="5016500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قرار أفضل</a:t>
            </a:r>
            <a:endParaRPr lang="ar-EG" sz="1900" dirty="0"/>
          </a:p>
        </p:txBody>
      </p:sp>
      <p:sp>
        <p:nvSpPr>
          <p:cNvPr id="14" name="d1"/>
          <p:cNvSpPr txBox="1"/>
          <p:nvPr/>
        </p:nvSpPr>
        <p:spPr>
          <a:xfrm>
            <a:off x="6350000" y="54864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التوقيت أو استخدام المدخلات</a:t>
            </a:r>
            <a:endParaRPr lang="ar-EG" sz="1200" dirty="0"/>
          </a:p>
        </p:txBody>
      </p:sp>
      <p:sp>
        <p:nvSpPr>
          <p:cNvPr id="15" name="link2"/>
          <p:cNvSpPr/>
          <p:nvPr/>
        </p:nvSpPr>
        <p:spPr>
          <a:xfrm>
            <a:off x="2730500" y="4572000"/>
            <a:ext cx="1816100" cy="1905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6" name="c2"/>
          <p:cNvSpPr/>
          <p:nvPr/>
        </p:nvSpPr>
        <p:spPr>
          <a:xfrm>
            <a:off x="4660900" y="4318000"/>
            <a:ext cx="533400" cy="5334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cn2"/>
          <p:cNvSpPr txBox="1"/>
          <p:nvPr/>
        </p:nvSpPr>
        <p:spPr>
          <a:xfrm>
            <a:off x="4660900" y="4394200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7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</a:t>
            </a:r>
            <a:endParaRPr lang="ar-EG" sz="1700" dirty="0"/>
          </a:p>
        </p:txBody>
      </p:sp>
      <p:sp>
        <p:nvSpPr>
          <p:cNvPr id="18" name="h2"/>
          <p:cNvSpPr txBox="1"/>
          <p:nvPr/>
        </p:nvSpPr>
        <p:spPr>
          <a:xfrm>
            <a:off x="3784600" y="5016500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هدر أقل</a:t>
            </a:r>
            <a:endParaRPr lang="ar-EG" sz="1900" dirty="0"/>
          </a:p>
        </p:txBody>
      </p:sp>
      <p:sp>
        <p:nvSpPr>
          <p:cNvPr id="19" name="d2"/>
          <p:cNvSpPr txBox="1"/>
          <p:nvPr/>
        </p:nvSpPr>
        <p:spPr>
          <a:xfrm>
            <a:off x="3784600" y="54864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ومستوى جودة أكثر استقرارًا</a:t>
            </a:r>
            <a:endParaRPr lang="ar-EG" sz="1200" dirty="0"/>
          </a:p>
        </p:txBody>
      </p:sp>
      <p:sp>
        <p:nvSpPr>
          <p:cNvPr id="20" name="c3"/>
          <p:cNvSpPr/>
          <p:nvPr/>
        </p:nvSpPr>
        <p:spPr>
          <a:xfrm>
            <a:off x="2082800" y="4318000"/>
            <a:ext cx="533400" cy="533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cn3"/>
          <p:cNvSpPr txBox="1"/>
          <p:nvPr/>
        </p:nvSpPr>
        <p:spPr>
          <a:xfrm>
            <a:off x="2082800" y="4394200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7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٤</a:t>
            </a:r>
            <a:endParaRPr lang="ar-EG" sz="1700" dirty="0"/>
          </a:p>
        </p:txBody>
      </p:sp>
      <p:sp>
        <p:nvSpPr>
          <p:cNvPr id="22" name="h3"/>
          <p:cNvSpPr txBox="1"/>
          <p:nvPr/>
        </p:nvSpPr>
        <p:spPr>
          <a:xfrm>
            <a:off x="1206500" y="5016500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فرصة دخل</a:t>
            </a:r>
            <a:endParaRPr lang="ar-EG" sz="1900" dirty="0"/>
          </a:p>
        </p:txBody>
      </p:sp>
      <p:sp>
        <p:nvSpPr>
          <p:cNvPr id="23" name="d3"/>
          <p:cNvSpPr txBox="1"/>
          <p:nvPr/>
        </p:nvSpPr>
        <p:spPr>
          <a:xfrm>
            <a:off x="1206500" y="54864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إذا تحسّن الإنتاج أو السعر أو النفاذ للسوق</a:t>
            </a:r>
            <a:endParaRPr lang="ar-EG" sz="1200" dirty="0"/>
          </a:p>
        </p:txBody>
      </p:sp>
      <p:sp>
        <p:nvSpPr>
          <p:cNvPr id="24" name="caveat"/>
          <p:cNvSpPr txBox="1"/>
          <p:nvPr/>
        </p:nvSpPr>
        <p:spPr>
          <a:xfrm>
            <a:off x="762000" y="6273800"/>
            <a:ext cx="1074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الأثر ليس تلقائيًا. التكلفة، ودقة التوصية، والمهارة، والوصول إلى السوق تحدد النتيجة الفعلية.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سوق خضروات ريفي ونساء يبعن الطماطم والخيا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400" y="0"/>
            <a:ext cx="46736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35000" y="711200"/>
            <a:ext cx="629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6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سيناريو توضيحي: بيع المحصول</a:t>
            </a:r>
            <a:endParaRPr lang="ar-EG" sz="2600" dirty="0"/>
          </a:p>
        </p:txBody>
      </p:sp>
      <p:sp>
        <p:nvSpPr>
          <p:cNvPr id="4" name="h1"/>
          <p:cNvSpPr txBox="1"/>
          <p:nvPr/>
        </p:nvSpPr>
        <p:spPr>
          <a:xfrm>
            <a:off x="3949700" y="1778000"/>
            <a:ext cx="298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القرار التقليدي</a:t>
            </a:r>
            <a:endParaRPr lang="ar-EG" sz="1900" dirty="0"/>
          </a:p>
        </p:txBody>
      </p:sp>
      <p:sp>
        <p:nvSpPr>
          <p:cNvPr id="5" name="b1"/>
          <p:cNvSpPr txBox="1"/>
          <p:nvPr/>
        </p:nvSpPr>
        <p:spPr>
          <a:xfrm>
            <a:off x="3949700" y="2311400"/>
            <a:ext cx="2984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يعتمد المنتج على خبرته والسعر المتداول في السوق القريب. قد يبيع سريعًا لتجنب التلف، حتى مع محدودية المعلومات عن البدائل.</a:t>
            </a:r>
            <a:endParaRPr lang="ar-EG" sz="1500" dirty="0"/>
          </a:p>
        </p:txBody>
      </p:sp>
      <p:sp>
        <p:nvSpPr>
          <p:cNvPr id="6" name="div"/>
          <p:cNvSpPr/>
          <p:nvPr/>
        </p:nvSpPr>
        <p:spPr>
          <a:xfrm>
            <a:off x="3784600" y="1778000"/>
            <a:ext cx="19050" cy="3175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h2"/>
          <p:cNvSpPr txBox="1"/>
          <p:nvPr/>
        </p:nvSpPr>
        <p:spPr>
          <a:xfrm>
            <a:off x="635000" y="1778000"/>
            <a:ext cx="298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قرار بمساندة رقمية</a:t>
            </a:r>
            <a:endParaRPr lang="ar-EG" sz="1900" dirty="0"/>
          </a:p>
        </p:txBody>
      </p:sp>
      <p:sp>
        <p:nvSpPr>
          <p:cNvPr id="8" name="b2"/>
          <p:cNvSpPr txBox="1"/>
          <p:nvPr/>
        </p:nvSpPr>
        <p:spPr>
          <a:xfrm>
            <a:off x="635000" y="2311400"/>
            <a:ext cx="29845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يضيف المنتج معلومات عن الأسعار والطلب وتوقيت النقل. تساعد الأداة على المقارنة، بينما يبقى القرار مرتبطًا بجودة البيانات وتكلفة الوصول إلى المشتري.</a:t>
            </a:r>
            <a:endParaRPr lang="ar-EG" sz="1500" dirty="0"/>
          </a:p>
        </p:txBody>
      </p:sp>
      <p:sp>
        <p:nvSpPr>
          <p:cNvPr id="9" name="note"/>
          <p:cNvSpPr txBox="1"/>
          <p:nvPr/>
        </p:nvSpPr>
        <p:spPr>
          <a:xfrm>
            <a:off x="635000" y="5715000"/>
            <a:ext cx="629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توجد أرقام مسح ميداني في هذا السيناريو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50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عاملات يفرزن ثمار الحمضيات على خط تعبئ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44627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016500" y="4622800"/>
            <a:ext cx="6489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3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المهارات والعمل في عصر الذكاء الاصطناعي</a:t>
            </a:r>
            <a:endParaRPr lang="ar-EG" sz="2300" dirty="0"/>
          </a:p>
        </p:txBody>
      </p:sp>
      <p:sp>
        <p:nvSpPr>
          <p:cNvPr id="4" name="body"/>
          <p:cNvSpPr txBox="1"/>
          <p:nvPr/>
        </p:nvSpPr>
        <p:spPr>
          <a:xfrm>
            <a:off x="5016500" y="5486400"/>
            <a:ext cx="64897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تزداد قيمة الثقافة الرقمية، وفهم البيانات، والتحقق من التوصيات، والتواصل مع العملاء والخبراء. وتتغير بعض المهام قبل أن تختفي الوظائف كاملة.</a:t>
            </a:r>
            <a:endParaRPr lang="ar-EG" sz="1400" dirty="0"/>
          </a:p>
        </p:txBody>
      </p:sp>
      <p:sp>
        <p:nvSpPr>
          <p:cNvPr id="5" name="roles"/>
          <p:cNvSpPr txBox="1"/>
          <p:nvPr/>
        </p:nvSpPr>
        <p:spPr>
          <a:xfrm>
            <a:off x="685800" y="4699000"/>
            <a:ext cx="393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أدوار ممكنة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500" b="1" dirty="0">
                <a:solidFill>
                  <a:schemeClr val="accent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مُيسّر رقمي ريفي</a:t>
            </a:r>
            <a:endParaRPr lang="ar-EG" sz="1600" dirty="0"/>
          </a:p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accent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مشغل معدات ذكية</a:t>
            </a:r>
            <a:endParaRPr lang="ar-EG" sz="1600" dirty="0"/>
          </a:p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accent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مسؤول جودة البيانات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فتاة تستخدم جهازًا لوحيًا بمساعدة آخري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1920" y="0"/>
            <a:ext cx="572008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11200" y="711200"/>
            <a:ext cx="5181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تحديات الوصول والاستخدام العادل</a:t>
            </a:r>
            <a:endParaRPr lang="ar-EG" sz="2200" dirty="0"/>
          </a:p>
        </p:txBody>
      </p:sp>
      <p:sp>
        <p:nvSpPr>
          <p:cNvPr id="4" name="h0"/>
          <p:cNvSpPr txBox="1"/>
          <p:nvPr/>
        </p:nvSpPr>
        <p:spPr>
          <a:xfrm>
            <a:off x="3479800" y="1778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الاتصال والأجهزة</a:t>
            </a:r>
            <a:endParaRPr lang="ar-EG" sz="1600" dirty="0"/>
          </a:p>
        </p:txBody>
      </p:sp>
      <p:sp>
        <p:nvSpPr>
          <p:cNvPr id="5" name="b0"/>
          <p:cNvSpPr txBox="1"/>
          <p:nvPr/>
        </p:nvSpPr>
        <p:spPr>
          <a:xfrm>
            <a:off x="3479800" y="22098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تضعف الفائدة عندما يكون الإنترنت غير مستقر أو الجهاز مكلفًا.</a:t>
            </a:r>
            <a:endParaRPr lang="ar-EG" sz="1300" dirty="0"/>
          </a:p>
        </p:txBody>
      </p:sp>
      <p:sp>
        <p:nvSpPr>
          <p:cNvPr id="6" name="h1"/>
          <p:cNvSpPr txBox="1"/>
          <p:nvPr/>
        </p:nvSpPr>
        <p:spPr>
          <a:xfrm>
            <a:off x="711200" y="1778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الثقافة الرقمية واللغة</a:t>
            </a:r>
            <a:endParaRPr lang="ar-EG" sz="1600" dirty="0"/>
          </a:p>
        </p:txBody>
      </p:sp>
      <p:sp>
        <p:nvSpPr>
          <p:cNvPr id="7" name="b1"/>
          <p:cNvSpPr txBox="1"/>
          <p:nvPr/>
        </p:nvSpPr>
        <p:spPr>
          <a:xfrm>
            <a:off x="711200" y="22098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تحتاج الأدوات إلى واجهات واضحة ومحتوى عربي ملائم للسياق الريفي.</a:t>
            </a:r>
            <a:endParaRPr lang="ar-EG" sz="1300" dirty="0"/>
          </a:p>
        </p:txBody>
      </p:sp>
      <p:sp>
        <p:nvSpPr>
          <p:cNvPr id="8" name="h2"/>
          <p:cNvSpPr txBox="1"/>
          <p:nvPr/>
        </p:nvSpPr>
        <p:spPr>
          <a:xfrm>
            <a:off x="3479800" y="3810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الثقة والمسؤولية</a:t>
            </a:r>
            <a:endParaRPr lang="ar-EG" sz="1600" dirty="0"/>
          </a:p>
        </p:txBody>
      </p:sp>
      <p:sp>
        <p:nvSpPr>
          <p:cNvPr id="9" name="b2"/>
          <p:cNvSpPr txBox="1"/>
          <p:nvPr/>
        </p:nvSpPr>
        <p:spPr>
          <a:xfrm>
            <a:off x="3479800" y="42418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يحتاج المستخدم إلى معرفة مصدر التوصية ومتى يرجع إلى خبير.</a:t>
            </a:r>
            <a:endParaRPr lang="ar-EG" sz="1300" dirty="0"/>
          </a:p>
        </p:txBody>
      </p:sp>
      <p:sp>
        <p:nvSpPr>
          <p:cNvPr id="10" name="h3"/>
          <p:cNvSpPr txBox="1"/>
          <p:nvPr/>
        </p:nvSpPr>
        <p:spPr>
          <a:xfrm>
            <a:off x="711200" y="3810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البيانات والخصوصية</a:t>
            </a:r>
            <a:endParaRPr lang="ar-EG" sz="1600" dirty="0"/>
          </a:p>
        </p:txBody>
      </p:sp>
      <p:sp>
        <p:nvSpPr>
          <p:cNvPr id="11" name="b3"/>
          <p:cNvSpPr txBox="1"/>
          <p:nvPr/>
        </p:nvSpPr>
        <p:spPr>
          <a:xfrm>
            <a:off x="711200" y="42418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جمع بيانات المزارعين واستخدامها يتطلبان موافقة واضحة وحماية مناسبة.</a:t>
            </a:r>
            <a:endParaRPr lang="ar-EG" sz="1300" dirty="0"/>
          </a:p>
        </p:txBody>
      </p:sp>
      <p:sp>
        <p:nvSpPr>
          <p:cNvPr id="12" name="warn"/>
          <p:cNvSpPr txBox="1"/>
          <p:nvPr/>
        </p:nvSpPr>
        <p:spPr>
          <a:xfrm>
            <a:off x="711200" y="5791200"/>
            <a:ext cx="5181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قد توسّع التقنية الفجوة إذا استفاد منها الأكثر اتصالًا وتعليمًا فقط.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112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مجموعة من المزارعين يجلسون في حلقة نقاش على الأرض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731000" y="762000"/>
            <a:ext cx="4673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سلامة المنهج والبيانات</a:t>
            </a:r>
            <a:endParaRPr lang="ar-EG" sz="3000" dirty="0"/>
          </a:p>
        </p:txBody>
      </p:sp>
      <p:sp>
        <p:nvSpPr>
          <p:cNvPr id="4" name="stmt"/>
          <p:cNvSpPr txBox="1"/>
          <p:nvPr/>
        </p:nvSpPr>
        <p:spPr>
          <a:xfrm>
            <a:off x="6731000" y="1625600"/>
            <a:ext cx="467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accent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 تُقدَّم بيانات مسح ميداني مع هذه المبادرة.</a:t>
            </a:r>
            <a:endParaRPr lang="ar-EG" sz="1900" dirty="0"/>
          </a:p>
        </p:txBody>
      </p:sp>
      <p:sp>
        <p:nvSpPr>
          <p:cNvPr id="5" name="lead"/>
          <p:cNvSpPr txBox="1"/>
          <p:nvPr/>
        </p:nvSpPr>
        <p:spPr>
          <a:xfrm>
            <a:off x="6731000" y="2540000"/>
            <a:ext cx="467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لذلك يعرض هذا العمل:</a:t>
            </a:r>
            <a:endParaRPr lang="ar-EG" sz="1500" dirty="0"/>
          </a:p>
        </p:txBody>
      </p:sp>
      <p:sp>
        <p:nvSpPr>
          <p:cNvPr id="6" name="pt0"/>
          <p:cNvSpPr txBox="1"/>
          <p:nvPr/>
        </p:nvSpPr>
        <p:spPr>
          <a:xfrm>
            <a:off x="6731000" y="2997200"/>
            <a:ext cx="467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buSzPct val="100000"/>
              <a:buChar char="•"/>
            </a:pPr>
            <a:r>
              <a:rPr lang="ar-EG" altLang="en-US" sz="16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مفاهيم مستندة إلى كتاب المقرر</a:t>
            </a:r>
            <a:endParaRPr lang="ar-EG" sz="1600" dirty="0"/>
          </a:p>
        </p:txBody>
      </p:sp>
      <p:sp>
        <p:nvSpPr>
          <p:cNvPr id="7" name="pt1"/>
          <p:cNvSpPr txBox="1"/>
          <p:nvPr/>
        </p:nvSpPr>
        <p:spPr>
          <a:xfrm>
            <a:off x="6731000" y="3556000"/>
            <a:ext cx="467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buSzPct val="100000"/>
              <a:buChar char="•"/>
            </a:pPr>
            <a:r>
              <a:rPr lang="ar-EG" altLang="en-US" sz="16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تطبيقات محتملة مدعومة بمراجع مؤسسية</a:t>
            </a:r>
            <a:endParaRPr lang="ar-EG" sz="1600" dirty="0"/>
          </a:p>
        </p:txBody>
      </p:sp>
      <p:sp>
        <p:nvSpPr>
          <p:cNvPr id="8" name="pt2"/>
          <p:cNvSpPr txBox="1"/>
          <p:nvPr/>
        </p:nvSpPr>
        <p:spPr>
          <a:xfrm>
            <a:off x="6731000" y="4114800"/>
            <a:ext cx="467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buSzPct val="100000"/>
              <a:buChar char="•"/>
            </a:pPr>
            <a:r>
              <a:rPr lang="ar-EG" altLang="en-US" sz="16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سيناريوهات توضيحية بلا نسب أو نتائج مختلقة</a:t>
            </a:r>
            <a:endParaRPr lang="ar-EG" sz="1600" dirty="0"/>
          </a:p>
        </p:txBody>
      </p:sp>
      <p:sp>
        <p:nvSpPr>
          <p:cNvPr id="9" name="limit"/>
          <p:cNvSpPr txBox="1"/>
          <p:nvPr/>
        </p:nvSpPr>
        <p:spPr>
          <a:xfrm>
            <a:off x="6731000" y="5207000"/>
            <a:ext cx="467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يصح استخدام العرض لإثبات زيادة فعلية في الدخل دون قياس قبل التطبيق وبعده.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7310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متدربات يتعلمن في مشتل نباتات خضرا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530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61000" y="787400"/>
            <a:ext cx="594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32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توصيات عملية</a:t>
            </a:r>
            <a:endParaRPr lang="ar-EG" sz="3200" dirty="0"/>
          </a:p>
        </p:txBody>
      </p:sp>
      <p:sp>
        <p:nvSpPr>
          <p:cNvPr id="4" name="h0"/>
          <p:cNvSpPr txBox="1"/>
          <p:nvPr/>
        </p:nvSpPr>
        <p:spPr>
          <a:xfrm>
            <a:off x="5461000" y="1778000"/>
            <a:ext cx="594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ابدأ من احتياج حقيقي</a:t>
            </a:r>
            <a:endParaRPr lang="ar-EG" sz="1800" dirty="0"/>
          </a:p>
        </p:txBody>
      </p:sp>
      <p:sp>
        <p:nvSpPr>
          <p:cNvPr id="5" name="b0"/>
          <p:cNvSpPr txBox="1"/>
          <p:nvPr/>
        </p:nvSpPr>
        <p:spPr>
          <a:xfrm>
            <a:off x="5461000" y="21844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اختر مشكلة محددة مثل الري أو تشخيص الآفات أو الوصول إلى السوق.</a:t>
            </a:r>
            <a:endParaRPr lang="ar-EG" sz="1400" dirty="0"/>
          </a:p>
        </p:txBody>
      </p:sp>
      <p:sp>
        <p:nvSpPr>
          <p:cNvPr id="6" name="rule1"/>
          <p:cNvSpPr/>
          <p:nvPr/>
        </p:nvSpPr>
        <p:spPr>
          <a:xfrm>
            <a:off x="5461000" y="2768600"/>
            <a:ext cx="5943600" cy="127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h1"/>
          <p:cNvSpPr txBox="1"/>
          <p:nvPr/>
        </p:nvSpPr>
        <p:spPr>
          <a:xfrm>
            <a:off x="5461000" y="2895600"/>
            <a:ext cx="594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درّب بالممارسة</a:t>
            </a:r>
            <a:endParaRPr lang="ar-EG" sz="1800" dirty="0"/>
          </a:p>
        </p:txBody>
      </p:sp>
      <p:sp>
        <p:nvSpPr>
          <p:cNvPr id="8" name="b1"/>
          <p:cNvSpPr txBox="1"/>
          <p:nvPr/>
        </p:nvSpPr>
        <p:spPr>
          <a:xfrm>
            <a:off x="5461000" y="33020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استخدم الحقل أو موقع العمل، مع أمثلة عربية بسيطة وتغذية راجعة مباشرة.</a:t>
            </a:r>
            <a:endParaRPr lang="ar-EG" sz="1400" dirty="0"/>
          </a:p>
        </p:txBody>
      </p:sp>
      <p:sp>
        <p:nvSpPr>
          <p:cNvPr id="9" name="rule2"/>
          <p:cNvSpPr/>
          <p:nvPr/>
        </p:nvSpPr>
        <p:spPr>
          <a:xfrm>
            <a:off x="5461000" y="3886200"/>
            <a:ext cx="5943600" cy="127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0" name="h2"/>
          <p:cNvSpPr txBox="1"/>
          <p:nvPr/>
        </p:nvSpPr>
        <p:spPr>
          <a:xfrm>
            <a:off x="5461000" y="4013200"/>
            <a:ext cx="594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وفّر وسيطًا موثوقًا</a:t>
            </a:r>
            <a:endParaRPr lang="ar-EG" sz="1800" dirty="0"/>
          </a:p>
        </p:txBody>
      </p:sp>
      <p:sp>
        <p:nvSpPr>
          <p:cNvPr id="11" name="b2"/>
          <p:cNvSpPr txBox="1"/>
          <p:nvPr/>
        </p:nvSpPr>
        <p:spPr>
          <a:xfrm>
            <a:off x="5461000" y="4419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اربط الأداة بمرشد زراعي أو مدرب محلي يمكن الرجوع إليه.</a:t>
            </a:r>
            <a:endParaRPr lang="ar-EG" sz="1400" dirty="0"/>
          </a:p>
        </p:txBody>
      </p:sp>
      <p:sp>
        <p:nvSpPr>
          <p:cNvPr id="12" name="rule3"/>
          <p:cNvSpPr/>
          <p:nvPr/>
        </p:nvSpPr>
        <p:spPr>
          <a:xfrm>
            <a:off x="5461000" y="5003800"/>
            <a:ext cx="5943600" cy="127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h3"/>
          <p:cNvSpPr txBox="1"/>
          <p:nvPr/>
        </p:nvSpPr>
        <p:spPr>
          <a:xfrm>
            <a:off x="5461000" y="5130800"/>
            <a:ext cx="594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accent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قِس الأثر</a:t>
            </a:r>
            <a:endParaRPr lang="ar-EG" sz="1800" dirty="0"/>
          </a:p>
        </p:txBody>
      </p:sp>
      <p:sp>
        <p:nvSpPr>
          <p:cNvPr id="14" name="b3"/>
          <p:cNvSpPr txBox="1"/>
          <p:nvPr/>
        </p:nvSpPr>
        <p:spPr>
          <a:xfrm>
            <a:off x="5461000" y="55372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تابع الوقت والتكلفة وجودة القرار والدخل قبل التوسع.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عمال بزي أزرق يعملون على خط فر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313944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85800" y="3378200"/>
            <a:ext cx="10820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خارطة تطبيق تدريجية</a:t>
            </a:r>
            <a:endParaRPr lang="ar-EG" sz="3000" dirty="0"/>
          </a:p>
        </p:txBody>
      </p:sp>
      <p:sp>
        <p:nvSpPr>
          <p:cNvPr id="4" name="link0"/>
          <p:cNvSpPr/>
          <p:nvPr/>
        </p:nvSpPr>
        <p:spPr>
          <a:xfrm>
            <a:off x="8229600" y="4800600"/>
            <a:ext cx="304800" cy="1905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" name="p0"/>
          <p:cNvSpPr txBox="1"/>
          <p:nvPr/>
        </p:nvSpPr>
        <p:spPr>
          <a:xfrm>
            <a:off x="8737600" y="43942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accent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المرحلة الأولى</a:t>
            </a:r>
            <a:endParaRPr lang="ar-EG" sz="1200" dirty="0"/>
          </a:p>
        </p:txBody>
      </p:sp>
      <p:sp>
        <p:nvSpPr>
          <p:cNvPr id="6" name="h0"/>
          <p:cNvSpPr txBox="1"/>
          <p:nvPr/>
        </p:nvSpPr>
        <p:spPr>
          <a:xfrm>
            <a:off x="8737600" y="4673600"/>
            <a:ext cx="254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تشخيص الاحتياج</a:t>
            </a:r>
            <a:endParaRPr lang="ar-EG" sz="1900" dirty="0"/>
          </a:p>
        </p:txBody>
      </p:sp>
      <p:sp>
        <p:nvSpPr>
          <p:cNvPr id="7" name="d0"/>
          <p:cNvSpPr txBox="1"/>
          <p:nvPr/>
        </p:nvSpPr>
        <p:spPr>
          <a:xfrm>
            <a:off x="8737600" y="52324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مشكلة واضحة، فئة مستهدفة، وخط أساس بسيط</a:t>
            </a:r>
            <a:endParaRPr lang="ar-EG" sz="1300" dirty="0"/>
          </a:p>
        </p:txBody>
      </p:sp>
      <p:sp>
        <p:nvSpPr>
          <p:cNvPr id="8" name="link1"/>
          <p:cNvSpPr/>
          <p:nvPr/>
        </p:nvSpPr>
        <p:spPr>
          <a:xfrm>
            <a:off x="5486400" y="4800600"/>
            <a:ext cx="304800" cy="1905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p1"/>
          <p:cNvSpPr txBox="1"/>
          <p:nvPr/>
        </p:nvSpPr>
        <p:spPr>
          <a:xfrm>
            <a:off x="5994400" y="43942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accent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المرحلة الثانية</a:t>
            </a:r>
            <a:endParaRPr lang="ar-EG" sz="1200" dirty="0"/>
          </a:p>
        </p:txBody>
      </p:sp>
      <p:sp>
        <p:nvSpPr>
          <p:cNvPr id="10" name="h1"/>
          <p:cNvSpPr txBox="1"/>
          <p:nvPr/>
        </p:nvSpPr>
        <p:spPr>
          <a:xfrm>
            <a:off x="5994400" y="4673600"/>
            <a:ext cx="254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تجربة محدودة</a:t>
            </a:r>
            <a:endParaRPr lang="ar-EG" sz="1900" dirty="0"/>
          </a:p>
        </p:txBody>
      </p:sp>
      <p:sp>
        <p:nvSpPr>
          <p:cNvPr id="11" name="d1"/>
          <p:cNvSpPr txBox="1"/>
          <p:nvPr/>
        </p:nvSpPr>
        <p:spPr>
          <a:xfrm>
            <a:off x="5994400" y="52324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تدريب عملي وأداة واحدة في نطاق صغير</a:t>
            </a:r>
            <a:endParaRPr lang="ar-EG" sz="1300" dirty="0"/>
          </a:p>
        </p:txBody>
      </p:sp>
      <p:sp>
        <p:nvSpPr>
          <p:cNvPr id="12" name="link2"/>
          <p:cNvSpPr/>
          <p:nvPr/>
        </p:nvSpPr>
        <p:spPr>
          <a:xfrm>
            <a:off x="2717800" y="4800600"/>
            <a:ext cx="304800" cy="1905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p2"/>
          <p:cNvSpPr txBox="1"/>
          <p:nvPr/>
        </p:nvSpPr>
        <p:spPr>
          <a:xfrm>
            <a:off x="3225800" y="43942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accent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المرحلة الثالثة</a:t>
            </a:r>
            <a:endParaRPr lang="ar-EG" sz="1200" dirty="0"/>
          </a:p>
        </p:txBody>
      </p:sp>
      <p:sp>
        <p:nvSpPr>
          <p:cNvPr id="14" name="h2"/>
          <p:cNvSpPr txBox="1"/>
          <p:nvPr/>
        </p:nvSpPr>
        <p:spPr>
          <a:xfrm>
            <a:off x="3225800" y="4673600"/>
            <a:ext cx="254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تقييم مستقل</a:t>
            </a:r>
            <a:endParaRPr lang="ar-EG" sz="1900" dirty="0"/>
          </a:p>
        </p:txBody>
      </p:sp>
      <p:sp>
        <p:nvSpPr>
          <p:cNvPr id="15" name="d2"/>
          <p:cNvSpPr txBox="1"/>
          <p:nvPr/>
        </p:nvSpPr>
        <p:spPr>
          <a:xfrm>
            <a:off x="3225800" y="52324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فحص الدقة والتكلفة وقبول المستخدمين</a:t>
            </a:r>
            <a:endParaRPr lang="ar-EG" sz="1300" dirty="0"/>
          </a:p>
        </p:txBody>
      </p:sp>
      <p:sp>
        <p:nvSpPr>
          <p:cNvPr id="16" name="p3"/>
          <p:cNvSpPr txBox="1"/>
          <p:nvPr/>
        </p:nvSpPr>
        <p:spPr>
          <a:xfrm>
            <a:off x="457200" y="43942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accent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المرحلة الرابعة</a:t>
            </a:r>
            <a:endParaRPr lang="ar-EG" sz="1200" dirty="0"/>
          </a:p>
        </p:txBody>
      </p:sp>
      <p:sp>
        <p:nvSpPr>
          <p:cNvPr id="17" name="h3"/>
          <p:cNvSpPr txBox="1"/>
          <p:nvPr/>
        </p:nvSpPr>
        <p:spPr>
          <a:xfrm>
            <a:off x="457200" y="4673600"/>
            <a:ext cx="254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توسّع مسؤول</a:t>
            </a:r>
            <a:endParaRPr lang="ar-EG" sz="1900" dirty="0"/>
          </a:p>
        </p:txBody>
      </p:sp>
      <p:sp>
        <p:nvSpPr>
          <p:cNvPr id="18" name="d3"/>
          <p:cNvSpPr txBox="1"/>
          <p:nvPr/>
        </p:nvSpPr>
        <p:spPr>
          <a:xfrm>
            <a:off x="457200" y="52324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تحسين الأداة ودعم الاتصال والمتابعة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عاملون ينحنون لزراعة حقل مرو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400" y="0"/>
            <a:ext cx="73406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09600" y="787400"/>
            <a:ext cx="365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accent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الخلاصة</a:t>
            </a:r>
            <a:endParaRPr lang="ar-EG" sz="3000" dirty="0"/>
          </a:p>
        </p:txBody>
      </p:sp>
      <p:sp>
        <p:nvSpPr>
          <p:cNvPr id="4" name="a"/>
          <p:cNvSpPr txBox="1"/>
          <p:nvPr/>
        </p:nvSpPr>
        <p:spPr>
          <a:xfrm>
            <a:off x="609600" y="1651000"/>
            <a:ext cx="3657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يمكن للذكاء الاصطناعي أن يوسّع قدرة الإنسان على الوصول إلى المعلومة وتحسين القرار.</a:t>
            </a:r>
            <a:endParaRPr lang="ar-EG" sz="1900" dirty="0"/>
          </a:p>
        </p:txBody>
      </p:sp>
      <p:sp>
        <p:nvSpPr>
          <p:cNvPr id="5" name="b"/>
          <p:cNvSpPr txBox="1"/>
          <p:nvPr/>
        </p:nvSpPr>
        <p:spPr>
          <a:xfrm>
            <a:off x="609600" y="3492500"/>
            <a:ext cx="3657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لكن أثره على الدخل والموارد البشرية يظل مشروطًا بالتدريب، والبنية التحتية، والثقة، والعدالة في الوصول، والقياس الفعلي للنتائج.</a:t>
            </a:r>
            <a:endParaRPr lang="ar-EG" sz="1400" dirty="0"/>
          </a:p>
        </p:txBody>
      </p:sp>
      <p:sp>
        <p:nvSpPr>
          <p:cNvPr id="6" name="c"/>
          <p:cNvSpPr txBox="1"/>
          <p:nvPr/>
        </p:nvSpPr>
        <p:spPr>
          <a:xfrm>
            <a:off x="609600" y="5715000"/>
            <a:ext cx="3657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accent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التقنية أداة. التنمية تبدأ بالإنسان.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096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" descr="غلاف كتاب تنمية الموارد البشرية الريفية، جامعة عين شم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256030"/>
            <a:ext cx="2952750" cy="382016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191000" y="660400"/>
            <a:ext cx="726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المصادر والمنهجية</a:t>
            </a:r>
            <a:endParaRPr lang="ar-EG" sz="3000" dirty="0"/>
          </a:p>
        </p:txBody>
      </p:sp>
      <p:sp>
        <p:nvSpPr>
          <p:cNvPr id="4" name="h1"/>
          <p:cNvSpPr txBox="1"/>
          <p:nvPr/>
        </p:nvSpPr>
        <p:spPr>
          <a:xfrm>
            <a:off x="4191000" y="1524000"/>
            <a:ext cx="726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المصدر الأكاديمي الأساسي</a:t>
            </a:r>
            <a:endParaRPr lang="ar-EG" sz="1600" dirty="0"/>
          </a:p>
        </p:txBody>
      </p:sp>
      <p:sp>
        <p:nvSpPr>
          <p:cNvPr id="5" name="b1"/>
          <p:cNvSpPr txBox="1"/>
          <p:nvPr/>
        </p:nvSpPr>
        <p:spPr>
          <a:xfrm>
            <a:off x="4191000" y="1955800"/>
            <a:ext cx="7264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كتاب «تنمية الموارد البشرية الريفية»</a:t>
            </a:r>
            <a:endParaRPr lang="ar-EG" sz="1500" dirty="0"/>
          </a:p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عين شمس، كلية الزراعة</a:t>
            </a:r>
            <a:endParaRPr lang="ar-EG" sz="1500" dirty="0"/>
          </a:p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الفصول: التنمية البشرية، الموارد البشرية، تنمية الموارد البشرية، ودور التدريب</a:t>
            </a:r>
            <a:endParaRPr lang="ar-EG" sz="1500" dirty="0"/>
          </a:p>
        </p:txBody>
      </p:sp>
      <p:sp>
        <p:nvSpPr>
          <p:cNvPr id="6" name="h2"/>
          <p:cNvSpPr txBox="1"/>
          <p:nvPr/>
        </p:nvSpPr>
        <p:spPr>
          <a:xfrm>
            <a:off x="4191000" y="3619500"/>
            <a:ext cx="726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accent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 تطبيقية</a:t>
            </a:r>
            <a:endParaRPr lang="ar-EG" sz="1600" dirty="0"/>
          </a:p>
        </p:txBody>
      </p:sp>
      <p:sp>
        <p:nvSpPr>
          <p:cNvPr id="7" name="r0"/>
          <p:cNvSpPr txBox="1"/>
          <p:nvPr/>
        </p:nvSpPr>
        <p:spPr>
          <a:xfrm>
            <a:off x="4191000" y="4064000"/>
            <a:ext cx="726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03200" indent="-203200">
              <a:buSzPct val="100000"/>
              <a:buChar char="•"/>
            </a:pPr>
            <a:r>
              <a:rPr lang="ar-EG" altLang="en-US" sz="14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منظمة الأغذية والزراعة: الأتمتة والتحول في النظم الزراعية والغذائية</a:t>
            </a:r>
            <a:endParaRPr lang="ar-EG" sz="1400" dirty="0"/>
          </a:p>
        </p:txBody>
      </p:sp>
      <p:sp>
        <p:nvSpPr>
          <p:cNvPr id="8" name="r1"/>
          <p:cNvSpPr txBox="1"/>
          <p:nvPr/>
        </p:nvSpPr>
        <p:spPr>
          <a:xfrm>
            <a:off x="4191000" y="4470400"/>
            <a:ext cx="726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03200" indent="-203200">
              <a:buSzPct val="100000"/>
              <a:buChar char="•"/>
            </a:pPr>
            <a:r>
              <a:rPr lang="ar-EG" altLang="en-US" sz="14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البنك الدولي: الذكاء الاصطناعي والزراعة الرقمية لصغار المنتجين</a:t>
            </a:r>
            <a:endParaRPr lang="ar-EG" sz="1400" dirty="0"/>
          </a:p>
        </p:txBody>
      </p:sp>
      <p:sp>
        <p:nvSpPr>
          <p:cNvPr id="9" name="r2"/>
          <p:cNvSpPr txBox="1"/>
          <p:nvPr/>
        </p:nvSpPr>
        <p:spPr>
          <a:xfrm>
            <a:off x="4191000" y="4876800"/>
            <a:ext cx="726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03200" indent="-203200">
              <a:buSzPct val="100000"/>
              <a:buChar char="•"/>
            </a:pPr>
            <a:r>
              <a:rPr lang="ar-EG" altLang="en-US" sz="14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منظمة العمل الدولية: المهارات والعمل في عصر الذكاء الاصطناعي</a:t>
            </a:r>
            <a:endParaRPr lang="ar-EG" sz="1400" dirty="0"/>
          </a:p>
        </p:txBody>
      </p:sp>
      <p:sp>
        <p:nvSpPr>
          <p:cNvPr id="10" name="note"/>
          <p:cNvSpPr txBox="1"/>
          <p:nvPr/>
        </p:nvSpPr>
        <p:spPr>
          <a:xfrm>
            <a:off x="4191000" y="5715000"/>
            <a:ext cx="726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فُصلت مفاهيم الكتاب عن التطبيقات المعاصرة. ولم تُعرض بيانات مسح ميداني أو نتائج كمية غير متاحة.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65024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  <a:latin typeface="Cairo"/>
                <a:ea typeface="Cairo"/>
                <a:cs typeface="Cair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تنمية الموارد البشرية الريفية">
  <a:themeElements>
    <a:clrScheme name="تنمية الموارد البشرية الريفية">
      <a:dk1>
        <a:srgbClr val="1D2B27"/>
      </a:dk1>
      <a:lt1>
        <a:srgbClr val="FDFCF6"/>
      </a:lt1>
      <a:dk2>
        <a:srgbClr val="0E3B35"/>
      </a:dk2>
      <a:lt2>
        <a:srgbClr val="F6F2E8"/>
      </a:lt2>
      <a:accent1>
        <a:srgbClr val="1F8F7A"/>
      </a:accent1>
      <a:accent2>
        <a:srgbClr val="E0A93B"/>
      </a:accent2>
      <a:accent3>
        <a:srgbClr val="9A6B00"/>
      </a:accent3>
      <a:accent4>
        <a:srgbClr val="55605B"/>
      </a:accent4>
      <a:accent5>
        <a:srgbClr val="E3D3A0"/>
      </a:accent5>
      <a:accent6>
        <a:srgbClr val="2F6F5E"/>
      </a:accent6>
      <a:hlink>
        <a:srgbClr val="1F8F7A"/>
      </a:hlink>
      <a:folHlink>
        <a:srgbClr val="55605B"/>
      </a:folHlink>
    </a:clrScheme>
    <a:fontScheme name="تنمية الموارد البشرية الريفية">
      <a:majorFont>
        <a:latin typeface="Cai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i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أثر الذكاء الاصطناعي على مستوى دخل الفرد والموارد البشرية</dc:title>
  <dc:subject>PptxGenJS Presentation</dc:subject>
  <dc:creator>PptxGenJS</dc:creator>
  <cp:lastModifiedBy>PptxGenJS</cp:lastModifiedBy>
  <cp:revision>1</cp:revision>
  <dcterms:created xsi:type="dcterms:W3CDTF">2026-10-28T19:53:26Z</dcterms:created>
  <dcterms:modified xsi:type="dcterms:W3CDTF">2026-10-28T19:53:26Z</dcterms:modified>
</cp:coreProperties>
</file>